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ish" charset="1" panose="020B0604020202020204"/>
      <p:regular r:id="rId17"/>
    </p:embeddedFont>
    <p:embeddedFont>
      <p:font typeface="Helveticish Bold" charset="1" panose="020B07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608393" y="7638339"/>
            <a:ext cx="15071213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11301259" cy="1398531"/>
          </a:xfrm>
          <a:custGeom>
            <a:avLst/>
            <a:gdLst/>
            <a:ahLst/>
            <a:cxnLst/>
            <a:rect r="r" b="b" t="t" l="l"/>
            <a:pathLst>
              <a:path h="1398531" w="11301259">
                <a:moveTo>
                  <a:pt x="0" y="0"/>
                </a:moveTo>
                <a:lnTo>
                  <a:pt x="11301259" y="0"/>
                </a:lnTo>
                <a:lnTo>
                  <a:pt x="11301259" y="1398531"/>
                </a:lnTo>
                <a:lnTo>
                  <a:pt x="0" y="1398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7952702"/>
            <a:ext cx="753560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spc="30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Modelo Preditivo Interativo de Obesidade</a:t>
            </a:r>
          </a:p>
          <a:p>
            <a:pPr algn="r">
              <a:lnSpc>
                <a:spcPts val="4200"/>
              </a:lnSpc>
            </a:pPr>
          </a:p>
          <a:p>
            <a:pPr algn="r">
              <a:lnSpc>
                <a:spcPts val="4200"/>
              </a:lnSpc>
            </a:pPr>
            <a:r>
              <a:rPr lang="en-US" sz="3000" spc="30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Grupo 150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8393" y="2532006"/>
            <a:ext cx="15071213" cy="90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6650" b="true">
                <a:solidFill>
                  <a:srgbClr val="ED145B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TECH CHALLENGE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8393" y="7952702"/>
            <a:ext cx="521320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Alberto de Franca Marchiori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Alef de Sousa Pereira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Leticia Lauria Lopes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77837" y="3409236"/>
            <a:ext cx="18443674" cy="6552381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849136" y="990600"/>
            <a:ext cx="738150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Pauta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49136" y="5066176"/>
            <a:ext cx="5868235" cy="58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O que este relatório aborda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056651"/>
            <a:ext cx="8028664" cy="285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Objetivo do Projeto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Aquisição e Limpeza dos Dados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Engenharia de Atributos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Análise Exploratória dos Dados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Preparação e Treinamento de Modelo Preditivo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Aplicação no Streamlit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8370311" y="4829008"/>
            <a:ext cx="0" cy="4754553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9144000" y="0"/>
            <a:ext cx="9299674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194654" y="990600"/>
            <a:ext cx="6754692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40"/>
              </a:lnSpc>
            </a:pPr>
            <a:r>
              <a:rPr lang="en-US" sz="8700" b="true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Objetivo do</a:t>
            </a:r>
          </a:p>
          <a:p>
            <a:pPr algn="l" marL="0" indent="0" lvl="0">
              <a:lnSpc>
                <a:spcPts val="10440"/>
              </a:lnSpc>
              <a:spcBef>
                <a:spcPct val="0"/>
              </a:spcBef>
            </a:pPr>
            <a:r>
              <a:rPr lang="en-US" b="true" sz="8700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Projeto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89898" y="2295525"/>
            <a:ext cx="6869402" cy="5728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17"/>
              </a:lnSpc>
            </a:pPr>
            <a:r>
              <a:rPr lang="en-US" sz="3474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Criar um modelo de Machine Learning para auxiliar a previsão de obesidade com base nos hábitos declarados pela pessoa, por meio de aplicação interativa utilizando o Streamlit.</a:t>
            </a:r>
          </a:p>
          <a:p>
            <a:pPr algn="just">
              <a:lnSpc>
                <a:spcPts val="4517"/>
              </a:lnSpc>
            </a:pPr>
          </a:p>
          <a:p>
            <a:pPr algn="just">
              <a:lnSpc>
                <a:spcPts val="4517"/>
              </a:lnSpc>
            </a:pPr>
            <a:r>
              <a:rPr lang="en-US" sz="3474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Para critérios mínimos de sucesso,  buscamos uma acurácia mínima de 75% das predições realizadas.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325383"/>
            <a:ext cx="18288000" cy="9636234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9949371" y="1210507"/>
            <a:ext cx="7729995" cy="8047793"/>
          </a:xfrm>
          <a:custGeom>
            <a:avLst/>
            <a:gdLst/>
            <a:ahLst/>
            <a:cxnLst/>
            <a:rect r="r" b="b" t="t" l="l"/>
            <a:pathLst>
              <a:path h="8047793" w="7729995">
                <a:moveTo>
                  <a:pt x="0" y="0"/>
                </a:moveTo>
                <a:lnTo>
                  <a:pt x="7729995" y="0"/>
                </a:lnTo>
                <a:lnTo>
                  <a:pt x="7729995" y="8047793"/>
                </a:lnTo>
                <a:lnTo>
                  <a:pt x="0" y="8047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259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641306"/>
            <a:ext cx="8336420" cy="9004387"/>
            <a:chOff x="0" y="0"/>
            <a:chExt cx="11115227" cy="1200585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28575"/>
              <a:ext cx="11115227" cy="2771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60"/>
                </a:lnSpc>
                <a:spcBef>
                  <a:spcPct val="0"/>
                </a:spcBef>
              </a:pPr>
              <a:r>
                <a:rPr lang="en-US" b="true" sz="68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Aquisição e Limpeza dos Dados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865448"/>
              <a:ext cx="11115227" cy="1792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542"/>
                </a:lnSpc>
                <a:spcBef>
                  <a:spcPct val="0"/>
                </a:spcBef>
              </a:pPr>
              <a:r>
                <a:rPr lang="en-US" sz="2725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Foi utilizada a base disponibilizada de pessoas do desafio contendo informações sobre os hábitos e classificação de obesidade de cada um.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765580"/>
              <a:ext cx="11115227" cy="724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Realizamos a limpeza e transformação da base com:</a:t>
              </a:r>
            </a:p>
            <a:p>
              <a:pPr algn="just" marL="518162" indent="-259081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Conversão dos campos binários de Gênero, Histórico Familiar, FAVC, SMOKE e SCC para valores de 0 e 1</a:t>
              </a:r>
            </a:p>
            <a:p>
              <a:pPr algn="just" marL="518162" indent="-259081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Conversão dos campos de frequência CAEC e CALC para valores de 0 a 3, sendo 0 equivalente a ‘Nunca’ e 3 equivalente a ‘Sempre’</a:t>
              </a:r>
            </a:p>
            <a:p>
              <a:pPr algn="just" marL="518162" indent="-259081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Conversão do campo de meio de transporte principal MTRANS para valores equivalentes a baixa, média e alta intensidade física</a:t>
              </a:r>
            </a:p>
            <a:p>
              <a:pPr algn="just" marL="518162" indent="-259081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Conversão dos campos de quantidade AGE, FCVC, NCP, CH2O, FAF e TER para inteiro devido a erros de ponto flutuante contidos na base</a:t>
              </a:r>
            </a:p>
            <a:p>
              <a:pPr algn="just" marL="518162" indent="-259081" lvl="1">
                <a:lnSpc>
                  <a:spcPts val="3360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Conversão do Peso e Altura para duas casas decimais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325383" y="1028700"/>
            <a:ext cx="17637234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4" id="4"/>
          <p:cNvSpPr/>
          <p:nvPr/>
        </p:nvSpPr>
        <p:spPr>
          <a:xfrm flipV="true">
            <a:off x="9139238" y="3082380"/>
            <a:ext cx="4762" cy="572948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643281" y="1446560"/>
            <a:ext cx="1100143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Engenharia de Atributos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877593"/>
            <a:ext cx="7410337" cy="6139060"/>
            <a:chOff x="0" y="0"/>
            <a:chExt cx="9880449" cy="818541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81512"/>
              <a:ext cx="9880449" cy="586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Classificação de Obesidade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628403"/>
              <a:ext cx="9880449" cy="6531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4"/>
                </a:lnSpc>
              </a:pPr>
              <a:r>
                <a:rPr lang="en-US" sz="2324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Criamos três diferentes classificações para as métricas de obesidade para aplicação no modelo, sendo elas:</a:t>
              </a:r>
            </a:p>
            <a:p>
              <a:pPr algn="ctr">
                <a:lnSpc>
                  <a:spcPts val="3254"/>
                </a:lnSpc>
              </a:pPr>
            </a:p>
            <a:p>
              <a:pPr algn="ctr" marL="501966" indent="-250983" lvl="1">
                <a:lnSpc>
                  <a:spcPts val="3254"/>
                </a:lnSpc>
                <a:buFont typeface="Arial"/>
                <a:buChar char="•"/>
              </a:pPr>
              <a:r>
                <a:rPr lang="en-US" sz="2324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Classificação em Dois Níveis: os níveis de Peso Insuficiente, Normal e Sobrepeso foram agrupadas como Não-Obesidade</a:t>
              </a:r>
            </a:p>
            <a:p>
              <a:pPr algn="ctr" marL="501966" indent="-250983" lvl="1">
                <a:lnSpc>
                  <a:spcPts val="3254"/>
                </a:lnSpc>
                <a:buFont typeface="Arial"/>
                <a:buChar char="•"/>
              </a:pPr>
              <a:r>
                <a:rPr lang="en-US" sz="2324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Classificação em Três Níveis: os Níveis de Peso Insuficiente e Normal foram agrupados como Não-Obesidade, e os de Sobrepeso e Obesidade foram agrupados em classes respectivas</a:t>
              </a:r>
            </a:p>
            <a:p>
              <a:pPr algn="ctr" marL="501966" indent="-250983" lvl="1">
                <a:lnSpc>
                  <a:spcPts val="3254"/>
                </a:lnSpc>
                <a:buFont typeface="Arial"/>
                <a:buChar char="•"/>
              </a:pPr>
              <a:r>
                <a:rPr lang="en-US" sz="2324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Classificação em Quatro Níveis: cada classificação foi agrupada individualmente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9880449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0"/>
                </a:lnSpc>
                <a:spcBef>
                  <a:spcPct val="0"/>
                </a:spcBef>
              </a:pPr>
              <a:r>
                <a:rPr lang="en-US" b="true" sz="3425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Criação de Variáveis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53612" y="3901530"/>
            <a:ext cx="7410337" cy="4091185"/>
            <a:chOff x="0" y="0"/>
            <a:chExt cx="9880449" cy="545491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81512"/>
              <a:ext cx="9880449" cy="586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O que o modelo deverá prever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628403"/>
              <a:ext cx="9880449" cy="3801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4"/>
                </a:lnSpc>
              </a:pPr>
              <a:r>
                <a:rPr lang="en-US" sz="2324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O target do modelo utilizado foi definido utilizando a classificação de obesidade criada.</a:t>
              </a:r>
            </a:p>
            <a:p>
              <a:pPr algn="ctr">
                <a:lnSpc>
                  <a:spcPts val="3254"/>
                </a:lnSpc>
              </a:pPr>
            </a:p>
            <a:p>
              <a:pPr algn="ctr">
                <a:lnSpc>
                  <a:spcPts val="3254"/>
                </a:lnSpc>
              </a:pPr>
              <a:r>
                <a:rPr lang="en-US" sz="2324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Para evitar overfitting do modelo, os campos anteriores de Nível de Obesidade, Peso e Altura foram eliminados, pois estão fortemente relacionados ao cálculo do IMC e à classificação.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9050"/>
              <a:ext cx="9880449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0"/>
                </a:lnSpc>
                <a:spcBef>
                  <a:spcPct val="0"/>
                </a:spcBef>
              </a:pPr>
              <a:r>
                <a:rPr lang="en-US" b="true" sz="3425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Definição do Target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18288000" cy="2531714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7238907" y="3102826"/>
            <a:ext cx="10020393" cy="6650386"/>
          </a:xfrm>
          <a:custGeom>
            <a:avLst/>
            <a:gdLst/>
            <a:ahLst/>
            <a:cxnLst/>
            <a:rect r="r" b="b" t="t" l="l"/>
            <a:pathLst>
              <a:path h="6650386" w="10020393">
                <a:moveTo>
                  <a:pt x="0" y="0"/>
                </a:moveTo>
                <a:lnTo>
                  <a:pt x="10020393" y="0"/>
                </a:lnTo>
                <a:lnTo>
                  <a:pt x="10020393" y="6650386"/>
                </a:lnTo>
                <a:lnTo>
                  <a:pt x="0" y="6650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7184" y="7108875"/>
            <a:ext cx="5869971" cy="2644337"/>
          </a:xfrm>
          <a:custGeom>
            <a:avLst/>
            <a:gdLst/>
            <a:ahLst/>
            <a:cxnLst/>
            <a:rect r="r" b="b" t="t" l="l"/>
            <a:pathLst>
              <a:path h="2644337" w="5869971">
                <a:moveTo>
                  <a:pt x="0" y="0"/>
                </a:moveTo>
                <a:lnTo>
                  <a:pt x="5869971" y="0"/>
                </a:lnTo>
                <a:lnTo>
                  <a:pt x="5869971" y="2644337"/>
                </a:lnTo>
                <a:lnTo>
                  <a:pt x="0" y="2644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7184" y="575294"/>
            <a:ext cx="1641211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Análise Exploratória dos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7184" y="3369945"/>
            <a:ext cx="5869971" cy="344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A aplicação dispõe de uma página interativa para filtragem de critérios para análise exploratória dos dados e suas métricas correspondentes.</a:t>
            </a:r>
          </a:p>
          <a:p>
            <a:pPr algn="just">
              <a:lnSpc>
                <a:spcPts val="3120"/>
              </a:lnSpc>
            </a:pPr>
          </a:p>
          <a:p>
            <a:pPr algn="just" marL="0" indent="0" lvl="0">
              <a:lnSpc>
                <a:spcPts val="299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Podemos ver, no exemplo, que se trata de uma base majoritariamente jovem, com IMC médio de sobrepeso, histórico familiar de obesidade e alto consumo calórico.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9144000" y="1028700"/>
            <a:ext cx="9144000" cy="82296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9547790" y="1213393"/>
            <a:ext cx="8336420" cy="7907921"/>
            <a:chOff x="0" y="0"/>
            <a:chExt cx="11115227" cy="1054389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11115227" cy="2014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02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A base foi dividida em treino e teste, utilizando a volumetria de 80% de dados para treino e 20% para teste, com estratificação.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13660"/>
              <a:ext cx="11115227" cy="823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Todos os atributos de hábito foram utilizados para previsão nos modelos, com a classificação em níveis criada sendo utilizada como Target.</a:t>
              </a:r>
            </a:p>
            <a:p>
              <a:pPr algn="just">
                <a:lnSpc>
                  <a:spcPts val="3780"/>
                </a:lnSpc>
              </a:pPr>
            </a:p>
            <a:p>
              <a:pPr algn="just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Nos testes, foi observado que todas as divisões de classificação obtiveram bons resultados preditivos, com os resultados no modelo escolhido sendo de 91% para dois níveis, 84% para três e 82% para quatro.</a:t>
              </a:r>
            </a:p>
            <a:p>
              <a:pPr algn="just">
                <a:lnSpc>
                  <a:spcPts val="3780"/>
                </a:lnSpc>
              </a:pPr>
            </a:p>
            <a:p>
              <a:pPr algn="just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Para interesse da aplicação, preferimos a utilização de três níveis de classificação, uma vez que identificar o sobrepeso é ideal antes do desenvolvimento para obesidade.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71814" y="1834107"/>
            <a:ext cx="8362064" cy="223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Preparação da Base para Previsão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1814" y="5635598"/>
            <a:ext cx="8362064" cy="263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4000" b="true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Modelos testados:</a:t>
            </a:r>
          </a:p>
          <a:p>
            <a:pPr algn="ctr">
              <a:lnSpc>
                <a:spcPts val="5200"/>
              </a:lnSpc>
            </a:pPr>
            <a:r>
              <a:rPr lang="en-US" sz="4000" b="true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Regressão Logística</a:t>
            </a:r>
          </a:p>
          <a:p>
            <a:pPr algn="ctr">
              <a:lnSpc>
                <a:spcPts val="5200"/>
              </a:lnSpc>
            </a:pPr>
            <a:r>
              <a:rPr lang="en-US" sz="4000" b="true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Random Forest</a:t>
            </a:r>
          </a:p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XGBoost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18288000" cy="2306624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194654" y="2982759"/>
            <a:ext cx="4404551" cy="1703541"/>
          </a:xfrm>
          <a:custGeom>
            <a:avLst/>
            <a:gdLst/>
            <a:ahLst/>
            <a:cxnLst/>
            <a:rect r="r" b="b" t="t" l="l"/>
            <a:pathLst>
              <a:path h="1703541" w="4404551">
                <a:moveTo>
                  <a:pt x="0" y="0"/>
                </a:moveTo>
                <a:lnTo>
                  <a:pt x="4404551" y="0"/>
                </a:lnTo>
                <a:lnTo>
                  <a:pt x="4404551" y="1703541"/>
                </a:lnTo>
                <a:lnTo>
                  <a:pt x="0" y="1703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54494" y="2982759"/>
            <a:ext cx="4683165" cy="1787468"/>
          </a:xfrm>
          <a:custGeom>
            <a:avLst/>
            <a:gdLst/>
            <a:ahLst/>
            <a:cxnLst/>
            <a:rect r="r" b="b" t="t" l="l"/>
            <a:pathLst>
              <a:path h="1787468" w="4683165">
                <a:moveTo>
                  <a:pt x="0" y="0"/>
                </a:moveTo>
                <a:lnTo>
                  <a:pt x="4683165" y="0"/>
                </a:lnTo>
                <a:lnTo>
                  <a:pt x="4683165" y="1787467"/>
                </a:lnTo>
                <a:lnTo>
                  <a:pt x="0" y="1787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52033" y="2940795"/>
            <a:ext cx="4793109" cy="1829431"/>
          </a:xfrm>
          <a:custGeom>
            <a:avLst/>
            <a:gdLst/>
            <a:ahLst/>
            <a:cxnLst/>
            <a:rect r="r" b="b" t="t" l="l"/>
            <a:pathLst>
              <a:path h="1829431" w="4793109">
                <a:moveTo>
                  <a:pt x="0" y="0"/>
                </a:moveTo>
                <a:lnTo>
                  <a:pt x="4793109" y="0"/>
                </a:lnTo>
                <a:lnTo>
                  <a:pt x="4793109" y="1829431"/>
                </a:lnTo>
                <a:lnTo>
                  <a:pt x="0" y="1829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4654" y="429412"/>
            <a:ext cx="1419852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Treinamento dos Modelos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92948" y="6095788"/>
            <a:ext cx="4652194" cy="44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7"/>
              </a:lnSpc>
              <a:spcBef>
                <a:spcPct val="0"/>
              </a:spcBef>
            </a:pPr>
            <a:r>
              <a:rPr lang="en-US" b="true" sz="2675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Escolhido - 84% de Acurácia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92948" y="6941549"/>
            <a:ext cx="4667960" cy="253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7993" indent="-223997" lvl="1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Precisão equilibrada de 84% para Peso Normal, 76% para Sobrepeso e 89% para Obesidade</a:t>
            </a:r>
            <a:r>
              <a:rPr lang="en-US" sz="2075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 </a:t>
            </a:r>
          </a:p>
          <a:p>
            <a:pPr algn="l" marL="447993" indent="-223997" lvl="1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Utilização de LOGLOSS para melhorar a consistência do modelo</a:t>
            </a:r>
          </a:p>
          <a:p>
            <a:pPr algn="l" marL="447993" indent="-223997" lvl="1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Considerado melhor para capturar padrões complexos entre hábitos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92948" y="5114925"/>
            <a:ext cx="440455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  <a:spcBef>
                <a:spcPct val="0"/>
              </a:spcBef>
            </a:pPr>
            <a:r>
              <a:rPr lang="en-US" b="true" sz="4700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XGBoost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54494" y="6095788"/>
            <a:ext cx="4683165" cy="44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b="true" sz="2679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Testado - 85% de Acurácia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54494" y="6941549"/>
            <a:ext cx="4404551" cy="217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Precisão equilibrada de 86% para Peso Normal, 76% para Sobrepeso e 89% para Obesidade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Simples  e estável para uso, bom para baseline de classificações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54494" y="5114925"/>
            <a:ext cx="440455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  <a:spcBef>
                <a:spcPct val="0"/>
              </a:spcBef>
            </a:pPr>
            <a:r>
              <a:rPr lang="en-US" b="true" sz="4700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Random Forest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4654" y="6095788"/>
            <a:ext cx="4404551" cy="44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b="true" sz="2679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Testado - 63% de Acurácia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4654" y="6941549"/>
            <a:ext cx="4404551" cy="289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Maior precisão para Peso Normal (77%) e Obesidade (78%) que para Sobrepeso (25%)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Testado principalmente na configuração de classificação em dois níveis, onde teve acurácia de 73%, sendo mais indicado para previsões binárias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4654" y="5114925"/>
            <a:ext cx="440455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  <a:spcBef>
                <a:spcPct val="0"/>
              </a:spcBef>
            </a:pPr>
            <a:r>
              <a:rPr lang="en-US" b="true" sz="4700">
                <a:solidFill>
                  <a:srgbClr val="FFFFFF"/>
                </a:solidFill>
                <a:latin typeface="Helveticish Bold"/>
                <a:ea typeface="Helveticish Bold"/>
                <a:cs typeface="Helveticish Bold"/>
                <a:sym typeface="Helveticish Bold"/>
              </a:rPr>
              <a:t>Regressão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737286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8477046" y="1028700"/>
            <a:ext cx="9124055" cy="8486257"/>
          </a:xfrm>
          <a:custGeom>
            <a:avLst/>
            <a:gdLst/>
            <a:ahLst/>
            <a:cxnLst/>
            <a:rect r="r" b="b" t="t" l="l"/>
            <a:pathLst>
              <a:path h="8486257" w="9124055">
                <a:moveTo>
                  <a:pt x="0" y="0"/>
                </a:moveTo>
                <a:lnTo>
                  <a:pt x="9124054" y="0"/>
                </a:lnTo>
                <a:lnTo>
                  <a:pt x="9124054" y="8486257"/>
                </a:lnTo>
                <a:lnTo>
                  <a:pt x="0" y="8486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53960" y="1028700"/>
            <a:ext cx="5464940" cy="2019190"/>
            <a:chOff x="0" y="0"/>
            <a:chExt cx="7286586" cy="269225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7286586" cy="186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Aplicação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32370"/>
              <a:ext cx="7286586" cy="759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no Streamlit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1132" y="3893929"/>
            <a:ext cx="6450595" cy="411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A aplicação publicada no Streamlit  faz a chamada do modelo treinado utilizando dados de entrada do usuário para retornar a previsão de risco de obesidade.</a:t>
            </a:r>
          </a:p>
          <a:p>
            <a:pPr algn="ctr">
              <a:lnSpc>
                <a:spcPts val="3640"/>
              </a:lnSpc>
            </a:pP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Também oferecemos uma página interativa, como mencionado anteriormente (slide 6) para possibilitar a análise de insights da base utilizada para treino.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915140" y="0"/>
            <a:ext cx="737286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588224" y="1855275"/>
            <a:ext cx="4262651" cy="3670616"/>
          </a:xfrm>
          <a:custGeom>
            <a:avLst/>
            <a:gdLst/>
            <a:ahLst/>
            <a:cxnLst/>
            <a:rect r="r" b="b" t="t" l="l"/>
            <a:pathLst>
              <a:path h="3670616" w="4262651">
                <a:moveTo>
                  <a:pt x="0" y="0"/>
                </a:moveTo>
                <a:lnTo>
                  <a:pt x="4262651" y="0"/>
                </a:lnTo>
                <a:lnTo>
                  <a:pt x="4262651" y="3670616"/>
                </a:lnTo>
                <a:lnTo>
                  <a:pt x="0" y="3670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55700" y="1289996"/>
            <a:ext cx="5053313" cy="7707008"/>
          </a:xfrm>
          <a:custGeom>
            <a:avLst/>
            <a:gdLst/>
            <a:ahLst/>
            <a:cxnLst/>
            <a:rect r="r" b="b" t="t" l="l"/>
            <a:pathLst>
              <a:path h="7707008" w="5053313">
                <a:moveTo>
                  <a:pt x="0" y="0"/>
                </a:moveTo>
                <a:lnTo>
                  <a:pt x="5053312" y="0"/>
                </a:lnTo>
                <a:lnTo>
                  <a:pt x="5053312" y="7707008"/>
                </a:lnTo>
                <a:lnTo>
                  <a:pt x="0" y="7707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8224" y="6203246"/>
            <a:ext cx="4262651" cy="2299905"/>
          </a:xfrm>
          <a:custGeom>
            <a:avLst/>
            <a:gdLst/>
            <a:ahLst/>
            <a:cxnLst/>
            <a:rect r="r" b="b" t="t" l="l"/>
            <a:pathLst>
              <a:path h="2299905" w="4262651">
                <a:moveTo>
                  <a:pt x="0" y="0"/>
                </a:moveTo>
                <a:lnTo>
                  <a:pt x="4262651" y="0"/>
                </a:lnTo>
                <a:lnTo>
                  <a:pt x="4262651" y="2299905"/>
                </a:lnTo>
                <a:lnTo>
                  <a:pt x="0" y="2299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869100" y="1028700"/>
            <a:ext cx="5464940" cy="2019190"/>
            <a:chOff x="0" y="0"/>
            <a:chExt cx="7286586" cy="269225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7286586" cy="186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Previsão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932370"/>
              <a:ext cx="7286586" cy="759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de risco do paciente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599297" y="3771265"/>
            <a:ext cx="6004546" cy="548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Além da previsão de risco, também retornamos os insights dos comportamentos prejudiciais, benéficos e visão geral de forma personalizada.</a:t>
            </a:r>
          </a:p>
          <a:p>
            <a:pPr algn="ctr">
              <a:lnSpc>
                <a:spcPts val="3640"/>
              </a:lnSpc>
            </a:pP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Helveticish"/>
                <a:ea typeface="Helveticish"/>
                <a:cs typeface="Helveticish"/>
                <a:sym typeface="Helveticish"/>
              </a:rPr>
              <a:t>A classificação de obesidade retornada apresenta também o percentual de confiabilidade específico da previsão feita utilizando a probabilidade de classe da função predict_proba, comparando os hábitos preenchidos com a base utilizada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5143500"/>
            <a:ext cx="18288000" cy="51435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2344519" y="1562155"/>
            <a:ext cx="13598962" cy="2019190"/>
            <a:chOff x="0" y="0"/>
            <a:chExt cx="18131949" cy="269225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18131949" cy="186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FFFFFF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Obrigado!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32370"/>
              <a:ext cx="18131949" cy="759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Caso tenha alguma dúvida, entre em contato.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49998" y="6706602"/>
            <a:ext cx="4404551" cy="1286087"/>
            <a:chOff x="0" y="0"/>
            <a:chExt cx="5872735" cy="171478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872735" cy="759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Alberto Marchiori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58099"/>
              <a:ext cx="5872735" cy="546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4"/>
                </a:lnSpc>
              </a:pPr>
              <a:r>
                <a:rPr lang="en-US" sz="2424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RM362799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41724" y="6706602"/>
            <a:ext cx="4404551" cy="1286087"/>
            <a:chOff x="0" y="0"/>
            <a:chExt cx="5872735" cy="171478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872735" cy="759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Alef Pereira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58099"/>
              <a:ext cx="5872735" cy="546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4"/>
                </a:lnSpc>
              </a:pPr>
              <a:r>
                <a:rPr lang="en-US" sz="2424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RM362855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33451" y="6706602"/>
            <a:ext cx="4404551" cy="1286087"/>
            <a:chOff x="0" y="0"/>
            <a:chExt cx="5872735" cy="171478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5872735" cy="759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00000"/>
                  </a:solidFill>
                  <a:latin typeface="Helveticish Bold"/>
                  <a:ea typeface="Helveticish Bold"/>
                  <a:cs typeface="Helveticish Bold"/>
                  <a:sym typeface="Helveticish Bold"/>
                </a:rPr>
                <a:t>Leticia Lopes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158099"/>
              <a:ext cx="5872735" cy="546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4"/>
                </a:lnSpc>
              </a:pPr>
              <a:r>
                <a:rPr lang="en-US" sz="2424">
                  <a:solidFill>
                    <a:srgbClr val="000000"/>
                  </a:solidFill>
                  <a:latin typeface="Helveticish"/>
                  <a:ea typeface="Helveticish"/>
                  <a:cs typeface="Helveticish"/>
                  <a:sym typeface="Helveticish"/>
                </a:rPr>
                <a:t>RM362795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DAGudeGZcfc</dc:identifier>
  <dcterms:modified xsi:type="dcterms:W3CDTF">2011-08-01T06:04:30Z</dcterms:modified>
  <cp:revision>1</cp:revision>
  <dc:title>TechChallenge4</dc:title>
</cp:coreProperties>
</file>